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1" d="100"/>
          <a:sy n="151" d="100"/>
        </p:scale>
        <p:origin x="456" y="1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01.07.2026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为大家解析一项非常有趣的附加作业——“构建一个智能评分工具”。这项作业的核心是利用AI工具，去评估我们用AI工具完成的其他作业，这是一个典型的“元作业”。接下来，我将详细介绍这项作业的目标、要求和评分标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解析将分为四个部分。首先，我们会了解作业的整体概况和核心目标。其次，将详细解读百分制的评分标准。接着，探讨作业中的自由发挥空间和需要交付的具体文件。最后，给出附加作业的评分标准和一些实用的建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我们首先来看作业的概述。这项作业的主题是“构建Day5评分Skill”，它的特殊之处在于，这是一个“元作业”。也就是说，我们需要用AI工具（Claude Code）来创建一个工具，这个工具的任务是自动评估我们之前完成的Day5作业。最终的产出是一份详细的、结构化的评价报告。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评分工具需要从两个层面进行检查。第一个层面是“交付物层面”，主要检查文件是否齐全、文档是否规范、Git记录是否完整等。第二个层面是“应用程序层面”，这是检查的重点，需要深入到代码内部，评估数据模型、CRUD实现、API设计等多个技术维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评分标准部分。总分100分，其中40分来自整体评分。这部分主要考察四个方面：应用概念和CRUD功能是否完整、三个版本是否使用了不同的技术栈、是否总结了AI编码心得，以及是否包含至少一个非JavaScript的后端版本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剩下的60分来自于对三个应用版本的评分，每个版本20分。评分标准是统一的，主要考察源代码完整性、README文档质量、应用功能的实现深度以及writeup文档中的详细描述。这意味着每个版本都需要独立、完整地进行评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检查应用功能时，评分工具需要深入代码细节。这里列出了几个关键的检查要点，包括数据模型的定义、CRUD操作的完整性、输入验证、错误处理以及前后端对接的正确性。这些都是衡量一个应用质量的重要标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了解了评分标准后，我们来看看作业中可以自由发挥的部分，以及最终需要交付的成果。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项作业提供了很大的创新空间。你可以选择用一个大而全的Skill，也可以用多个小Skill组合。在代码检查深度上，可以从简单的静态分析到实际运行测试。此外，还可以加入代码质量检查，使用Skill的高级特性，并选择不同的报告输出格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最终的交付物需要放在一个名为grader-skill的文件夹中，包含四个核心文件：skill.md是Skill的入口定义，DESIGN.md是设计文档，USAGE.md是使用说明，以及sample-report.md，即评分工具在你自己作业上运行后的实际报告。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我们来详细看一下这两个核心交付物。首先是`skill.md`，它是Skill的定义文件，核心在于明确Skill的名称、描述、触发方式以及最重要的评分逻辑和报告格式，这是系统运行的基础。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然后是`DESIGN.md`，这份设计文档需要清晰地阐述我们的设计思路和动机。我们要详细说明评分逻辑的技术方案，比如如何分析应用代码、如何扫描数据模型和CRUD端点。同时，还要解释我们使用的高级特性及其选型理由，并客观分析方案的局限性和未来的改进方向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左下角的图片展示了代码结构的对比，这有助于直观理解我们在代码检查策略上的考量，确保评分标准的合理性和一致性。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USAGE.md需要提供清晰的使用指南，告诉别人如何安装和运行你的Skill。最重要的是sample-report.md，你需要用自己的评分工具去评估自己的Day5作业，并诚实地记录下结果。即使发现了问题，这也是这项“元作业”最有价值的部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看一下附加作业本身的评分标准，总共20分，主要考察Skill的可用性、评分维度的完整性、报告质量以及文档的完整性。同时，这里也给出了一些关键建议：善用AI、分步实现、诚实记录，并真正理解和拥抱“元作业”的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这里是本次作业涉及到的核心数据汇总，方便大家快速回顾。附加作业20分，Day5主作业100分，评分结构为40/60开，最终需要交付4个文件。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本次解析的所有内容均来源于官方提供的作业说明文档，大家可以通过这个链接查看原始文件。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我的解析到此结束，感谢大家的聆听。现在是问答环节，欢迎大家提问。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jpe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11" Type="http://schemas.openxmlformats.org/officeDocument/2006/relationships/image" Target="../media/image26.svg"/><Relationship Id="rId5" Type="http://schemas.openxmlformats.org/officeDocument/2006/relationships/image" Target="../media/image20.sv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.jpe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29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.jpeg"/><Relationship Id="rId7" Type="http://schemas.openxmlformats.org/officeDocument/2006/relationships/image" Target="../media/image33.svg"/><Relationship Id="rId12" Type="http://schemas.openxmlformats.org/officeDocument/2006/relationships/image" Target="../media/image3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svg"/><Relationship Id="rId10" Type="http://schemas.openxmlformats.org/officeDocument/2006/relationships/image" Target="../media/image36.jpeg"/><Relationship Id="rId4" Type="http://schemas.openxmlformats.org/officeDocument/2006/relationships/image" Target="../media/image30.png"/><Relationship Id="rId9" Type="http://schemas.openxmlformats.org/officeDocument/2006/relationships/image" Target="../media/image35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2.jpeg"/><Relationship Id="rId7" Type="http://schemas.openxmlformats.org/officeDocument/2006/relationships/image" Target="../media/image21.png"/><Relationship Id="rId12" Type="http://schemas.openxmlformats.org/officeDocument/2006/relationships/image" Target="../media/image4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svg"/><Relationship Id="rId11" Type="http://schemas.openxmlformats.org/officeDocument/2006/relationships/image" Target="../media/image40.png"/><Relationship Id="rId5" Type="http://schemas.openxmlformats.org/officeDocument/2006/relationships/image" Target="../media/image19.png"/><Relationship Id="rId10" Type="http://schemas.openxmlformats.org/officeDocument/2006/relationships/image" Target="../media/image10.svg"/><Relationship Id="rId4" Type="http://schemas.openxmlformats.org/officeDocument/2006/relationships/image" Target="../media/image39.jpeg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2.jpe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10" Type="http://schemas.openxmlformats.org/officeDocument/2006/relationships/image" Target="../media/image48.svg"/><Relationship Id="rId4" Type="http://schemas.openxmlformats.org/officeDocument/2006/relationships/image" Target="../media/image42.jpeg"/><Relationship Id="rId9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jpeg"/><Relationship Id="rId3" Type="http://schemas.openxmlformats.org/officeDocument/2006/relationships/image" Target="../media/image2.jpe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50.svg"/><Relationship Id="rId4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jpeg"/><Relationship Id="rId7" Type="http://schemas.openxmlformats.org/officeDocument/2006/relationships/image" Target="../media/image55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4.png"/><Relationship Id="rId11" Type="http://schemas.openxmlformats.org/officeDocument/2006/relationships/image" Target="../media/image29.svg"/><Relationship Id="rId5" Type="http://schemas.openxmlformats.org/officeDocument/2006/relationships/image" Target="../media/image53.svg"/><Relationship Id="rId10" Type="http://schemas.openxmlformats.org/officeDocument/2006/relationships/image" Target="../media/image28.png"/><Relationship Id="rId4" Type="http://schemas.openxmlformats.org/officeDocument/2006/relationships/image" Target="../media/image52.png"/><Relationship Id="rId9" Type="http://schemas.openxmlformats.org/officeDocument/2006/relationships/image" Target="../media/image22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59.svg"/><Relationship Id="rId3" Type="http://schemas.openxmlformats.org/officeDocument/2006/relationships/image" Target="../media/image2.jpeg"/><Relationship Id="rId7" Type="http://schemas.openxmlformats.org/officeDocument/2006/relationships/image" Target="../media/image14.svg"/><Relationship Id="rId12" Type="http://schemas.openxmlformats.org/officeDocument/2006/relationships/image" Target="../media/image5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11" Type="http://schemas.openxmlformats.org/officeDocument/2006/relationships/image" Target="../media/image31.svg"/><Relationship Id="rId5" Type="http://schemas.openxmlformats.org/officeDocument/2006/relationships/image" Target="../media/image29.svg"/><Relationship Id="rId10" Type="http://schemas.openxmlformats.org/officeDocument/2006/relationships/image" Target="../media/image30.png"/><Relationship Id="rId4" Type="http://schemas.openxmlformats.org/officeDocument/2006/relationships/image" Target="../media/image28.png"/><Relationship Id="rId9" Type="http://schemas.openxmlformats.org/officeDocument/2006/relationships/image" Target="../media/image57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2540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构建智能评分工具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3937000"/>
            <a:ext cx="1016000" cy="508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431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Day5 附加作业解析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4092">
            <a:off x="762004" y="558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62000" y="58420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汇报人：AI内容规划助手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58420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日期：2026年7月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76200" cy="17145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9500" y="2222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14500" y="2184400"/>
            <a:ext cx="4000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01. 作业概述与核心目标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418">
            <a:off x="1079509" y="2787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79500" y="29845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深入理解“元作业”的核心概念，明确本次任务的核心目标与关键方向，为后续实践奠定认知基础。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0" y="2032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350000" y="2032000"/>
            <a:ext cx="76200" cy="17145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67500" y="2222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302500" y="2184400"/>
            <a:ext cx="4000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02. 评分标准详解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418">
            <a:off x="6667509" y="2787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667500" y="29845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全面拆解百分制评分构成，剖析基础分、逻辑分与创意分的权重占比，精准掌握得分要点与扣分风险。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318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62000" y="4318000"/>
            <a:ext cx="76200" cy="17145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9500" y="4508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714500" y="4470400"/>
            <a:ext cx="4000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03. 自由发挥与交付物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9418">
            <a:off x="1079509" y="5073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1079500" y="52705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探索任务中的创新实践空间，明确最终需要提交的文件清单、格式规范与命名要求，确保交付物完整合规。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50000" y="4318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350000" y="4318000"/>
            <a:ext cx="76200" cy="17145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67500" y="45085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302500" y="4470400"/>
            <a:ext cx="4000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04. 评分与提示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9418">
            <a:off x="6667509" y="5073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667500" y="52705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解读附加作业的评分细则，规避常见错误，并提供提升作业质量的关键策略与实用建议，助力高效完成任务。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作业概述与核心目标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286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87500" y="2260600"/>
            <a:ext cx="4127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作业定位：构建智能评分工具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2978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238500"/>
            <a:ext cx="4699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主题：构建 Day5 评分 Skill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这是一个典型的“元作业”——我们需要使用 AI 工具（Claude）来构建一个工具，这个工具的核心使命，正是反过来评估我们用 AI 工具完成的 Day5 作业交付物，形成“工具构建工具、工具评价工具”的闭环。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6223000" y="2032000"/>
            <a:ext cx="5207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2286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048500" y="2260600"/>
            <a:ext cx="4127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核心任务：打造 Claude Code Skill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291">
            <a:off x="6477009" y="2978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477000" y="3238500"/>
            <a:ext cx="4699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目标与输出：自动化评价闭环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目标是创建能自动检查 `day5/` 目录下交付物和应用程序的评分逻辑；最终输出一份完整的结构化评价报告，包含对功能、代码、体验的逐项评价与说明，并生成量化的总分结果。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59690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34D399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62000" y="5969000"/>
            <a:ext cx="50800" cy="5080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016000" y="6045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价值内核：以 AI 工具构建标准化评价体系，实现技术作业评估的自动化、客观化与智能化升级。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作业概述与核心目标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70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032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006600"/>
            <a:ext cx="4254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交付物层面检查：完整性与规范性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167">
            <a:off x="1016008" y="2660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921000"/>
            <a:ext cx="47625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文件结构与文档：</a:t>
            </a: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核查项目目录结构是否完整清晰，确保 README 内容规范、包含项目说明与使用方法，writeupCN 文档按要求完整填写，形成可追溯的项目文档资产。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版本管理合规性：</a:t>
            </a: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审查 Git 提交历史，验证提交信息是否语义化、提交节点是否连贯，确保代码演进过程清晰、可审计。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6159500" y="1778000"/>
            <a:ext cx="5270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3500" y="20320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21500" y="2006600"/>
            <a:ext cx="4254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应用程序层面检查：深度技术评估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167">
            <a:off x="6413508" y="2660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413500" y="2921000"/>
            <a:ext cx="47625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核心代码质量：</a:t>
            </a: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对多版本应用代码进行全维度审查，重点评估数据模型设计的合理性、CRUD 功能实现的健壮性，以及 API 接口的规范性与易用性。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体验与鲁棒性：</a:t>
            </a: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验证业务逻辑中的错误处理机制是否完善，同时从用户视角出发，评估 UI/UX 的交互流畅度与可用性，确保代码质量与用户体验并重。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57785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34D399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62000" y="5778500"/>
            <a:ext cx="76200" cy="7620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079500" y="5905500"/>
            <a:ext cx="1009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核心目标：通过交付物合规性与代码深度质量的双重校验，建立标准化、高质量的作业交付体系。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评分标准详解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76200" cy="19685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905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应用概念与最低功能范围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572000" y="19050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10 分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046">
            <a:off x="1016008" y="2470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667000"/>
            <a:ext cx="4762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检查 `writeupCN` 中是否清晰描述应用概念；核验三版代码是否完整实现 Create, Read, Update, Delete (CRUD) 的核心数据操作功能。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86500" y="1778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286500" y="1778000"/>
            <a:ext cx="76200" cy="19685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540500" y="1905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三个不同技术栈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096500" y="19050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10 分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046">
            <a:off x="6540508" y="2470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540500" y="2667000"/>
            <a:ext cx="4762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扫描各版本项目依赖文件（如 `package.json`, `requirements.txt`），确认提交的三个版本所采用的核心开发技术栈互不重复，体现技术多样性。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1275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62000" y="4127500"/>
            <a:ext cx="76200" cy="19685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1016000" y="4254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 编码工具心得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572000" y="42545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10 分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9046">
            <a:off x="1016008" y="4819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1016000" y="5016500"/>
            <a:ext cx="4762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在 `writeupCN` 文档中需详实记录使用 AI 工具辅助编码的真实心得、效率提升的经验总结，以及过程中遇到的技术难点与解决方案。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86500" y="41275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286500" y="4127500"/>
            <a:ext cx="76200" cy="19685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540500" y="4254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至少一个非 JS 版本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0096500" y="42545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10 分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9046">
            <a:off x="6540508" y="4819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540500" y="5016500"/>
            <a:ext cx="4762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提交的项目版本中必须包含至少一个非 JavaScript/TypeScript 的后端实现，例如 Python、Ruby、Go、Java 等其他主流服务端语言。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评分标准详解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各版本应用评分细则：每版本 20 分（4 项 × 5 分），总计 60 分，从代码、文档、功能到复盘全方位考核项目交付质量。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10668000" cy="12700"/>
          </a:xfrm>
          <a:prstGeom prst="roundRect">
            <a:avLst>
              <a:gd name="adj" fmla="val 0"/>
            </a:avLst>
          </a:prstGeom>
          <a:solidFill>
            <a:srgbClr val="34D39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667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2641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源代码完整性</a:t>
            </a:r>
            <a:r>
              <a:rPr lang="en-US" sz="1600" b="0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(5分)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9291">
            <a:off x="1016009" y="3295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3429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检查项目文件夹结构的规范性，确认核心源代码文件及配置文件（如 package.json）完整存在，无缺失关键工程文件。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2413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2667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112000" y="2641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README 文档质量</a:t>
            </a:r>
            <a:r>
              <a:rPr lang="en-US" sz="1600" b="0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(5分)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291">
            <a:off x="6477009" y="3295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477000" y="3429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验证文档是否涵盖项目前置条件、环境配置步骤、安装与运行说明等关键信息，确保文档能指导用户顺利部署和使用应用。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572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826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651000" y="4800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应用功能实现深度</a:t>
            </a:r>
            <a:r>
              <a:rPr lang="en-US" sz="1600" b="0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(5分)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9291">
            <a:off x="1016009" y="5454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1016000" y="5588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深入核查数据模型定义、CRUD 核心逻辑、输入验证与错误处理机制，以及前后端接口对接的正确性和稳定性。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23000" y="4572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48260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112000" y="4800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writeup 复盘描述</a:t>
            </a:r>
            <a:r>
              <a:rPr lang="en-US" sz="1600" b="0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(5分)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9291">
            <a:off x="6477009" y="5454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6477000" y="5588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审查技术栈选型依据、AI工具应用场景、数据存储方案设计，以及开发过程中遇到的核心问题与解决方案的完整阐述。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评分标准详解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588000" cy="9144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0800" cy="9144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841500"/>
            <a:ext cx="50800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数据模型 (Data Model)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检查是否有明确的 Schema/Model 定义（如 Mongoose Schema, Django Model），确保数据结构规范且可维护。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2946400"/>
            <a:ext cx="5588000" cy="9144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762000" y="2946400"/>
            <a:ext cx="50800" cy="9144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16000" y="3009900"/>
            <a:ext cx="50800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CRUD 操作完整性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验证是否完整实现创建(Create)、读取(列表+详情)、更新(Update)、删除(Delete)全生命周期操作，无功能缺失。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064000"/>
            <a:ext cx="5588000" cy="9144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62000" y="4064000"/>
            <a:ext cx="50800" cy="9144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016000" y="4127500"/>
            <a:ext cx="50800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输入验证 (Input Validation)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确认对所有用户输入进行了严格校验，包括必填字段检查、数据类型匹配及字段长度限制，拒绝非法数据进入系统。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5232400"/>
            <a:ext cx="27305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62000" y="5232400"/>
            <a:ext cx="50800" cy="11430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952500" y="5334000"/>
            <a:ext cx="2413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错误处理机制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API 需使用 try/catch 捕获异常，并返回统一、友好的错误响应格式，便于前端处理。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3619500" y="5232400"/>
            <a:ext cx="27305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3619500" y="5232400"/>
            <a:ext cx="50800" cy="11430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3810000" y="5334000"/>
            <a:ext cx="2413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前后端接口对接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验证前端 API 调用与后端接口定义完全匹配，请求参数、响应格式一致，无调用错误。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4"/>
          <a:srcRect l="3445" r="3445"/>
          <a:stretch>
            <a:fillRect/>
          </a:stretch>
        </p:blipFill>
        <p:spPr>
          <a:xfrm>
            <a:off x="6858000" y="1778000"/>
            <a:ext cx="4572000" cy="2984500"/>
          </a:xfrm>
          <a:prstGeom prst="rect">
            <a:avLst/>
          </a:prstGeom>
          <a:noFill/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6858000" y="5080000"/>
            <a:ext cx="4572000" cy="12954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985000" y="5207000"/>
            <a:ext cx="4318000" cy="1041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规范的 API 文档是前后端协作的基石。如 Fish Speech API 示例所示，清晰的接口定义、请求方法和数据结构能有效降低对接成本，提升开发效率与系统稳定性。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自由发挥与交付物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524000" cy="762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3048000"/>
            <a:ext cx="1066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在掌握核心评分标准的基础上，探索创意边界，明确最终交付成果的规范与形式，确保作业完成度与表现力的统一。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5080000"/>
            <a:ext cx="3378200" cy="11430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52705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52070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创意边界拓展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在规则框架内，大胆尝试多元表现手法，赋予作品独特的个人风格与思考深度。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4394200" y="5080000"/>
            <a:ext cx="3378200" cy="11430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84700" y="52705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092700" y="52070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交付标准规范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严格遵循格式、命名与排版要求，确保文件结构清晰，便于归档与成果展示。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026400" y="5080000"/>
            <a:ext cx="3378200" cy="11430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16900" y="52705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724900" y="52070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成果完整呈现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整合过程文档与最终作品，形成逻辑闭环，全面展现从构思到落地的完整创作脉络。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自由发挥与交付物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588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13970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841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1803400"/>
            <a:ext cx="463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维度一：执行粒度与检查深度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8594">
            <a:off x="1016008" y="2279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387600"/>
            <a:ext cx="508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可选择单技能集成或多技能组合策略；代码检查从静态语法分析进阶至实际运行时的深度验证，确保逻辑闭环。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429000"/>
            <a:ext cx="5588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62000" y="3429000"/>
            <a:ext cx="76200" cy="13970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619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460500" y="3581400"/>
            <a:ext cx="463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维度二：全链路代码质量管控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8594">
            <a:off x="1016008" y="4057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1016000" y="4165600"/>
            <a:ext cx="508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构建多维防护网：通过ESLint规范风格，TypeScript保障类型安全，并结合`npm audit`自动化扫描依赖包安全漏洞。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080000"/>
            <a:ext cx="5588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62000" y="5080000"/>
            <a:ext cx="76200" cy="11430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5270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460500" y="5232400"/>
            <a:ext cx="4635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灵活的交付报告格式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016000" y="5715000"/>
            <a:ext cx="508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支持终端纯文本快速预览，亦可生成结构化的 Markdown/HTML 报告，适配不同归档与展示需求。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5390450">
            <a:off x="4445000" y="3930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22" name="Picture 22"/>
          <p:cNvPicPr>
            <a:picLocks noChangeAspect="1"/>
          </p:cNvPicPr>
          <p:nvPr/>
        </p:nvPicPr>
        <p:blipFill>
          <a:blip r:embed="rId10"/>
          <a:srcRect t="1746" b="1746"/>
          <a:stretch>
            <a:fillRect/>
          </a:stretch>
        </p:blipFill>
        <p:spPr>
          <a:xfrm>
            <a:off x="6985000" y="1651000"/>
            <a:ext cx="4445000" cy="2413000"/>
          </a:xfrm>
          <a:prstGeom prst="rect">
            <a:avLst/>
          </a:prstGeom>
          <a:noFill/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</a:ln>
        </p:spPr>
      </p:pic>
      <p:sp>
        <p:nvSpPr>
          <p:cNvPr id="23" name="AutoShape 23"/>
          <p:cNvSpPr/>
          <p:nvPr/>
        </p:nvSpPr>
        <p:spPr>
          <a:xfrm>
            <a:off x="6985000" y="4445000"/>
            <a:ext cx="4445000" cy="1778000"/>
          </a:xfrm>
          <a:prstGeom prst="roundRect">
            <a:avLst>
              <a:gd name="adj" fmla="val 0"/>
            </a:avLst>
          </a:prstGeom>
          <a:solidFill>
            <a:srgbClr val="34D399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75500" y="46355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620000" y="4597400"/>
            <a:ext cx="3619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技能高级特性赋能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0742">
            <a:off x="7175510" y="507365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7175500" y="52070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充分利用 Hooks 生命周期管理、Subagents 任务分发、MCP 工具调用及自定义 Prompt 工程，最大化技能的灵活性与自动化效能。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自由发挥与交付物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7066" r="7066"/>
          <a:stretch>
            <a:fillRect/>
          </a:stretch>
        </p:blipFill>
        <p:spPr>
          <a:xfrm>
            <a:off x="762000" y="1778000"/>
            <a:ext cx="5080000" cy="330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334000"/>
            <a:ext cx="508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在 day5 目录下创建 grader-skill 文件夹，构建标准化的项目结构，将核心逻辑与说明文档分离，形成清晰、可复用的技能包交付形态。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90177">
            <a:off x="4000500" y="3994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477000" y="1778000"/>
            <a:ext cx="2603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1778000"/>
            <a:ext cx="2603500" cy="508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7500" y="20066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112000" y="19685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skill.md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9644">
            <a:off x="6667518" y="25336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667500" y="2667000"/>
            <a:ext cx="2222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Skill 的核心入口定义文件，规范 Claude Code 技能的元数据、触发条件与执行逻辑，是系统识别和加载技能的关键。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207500" y="1778000"/>
            <a:ext cx="2603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9207500" y="1778000"/>
            <a:ext cx="2603500" cy="508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98000" y="20066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9842500" y="19685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DESIGN.md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9644">
            <a:off x="9398018" y="25336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9398000" y="2667000"/>
            <a:ext cx="2222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详细阐述技能的整体架构设计、评分算法逻辑以及代码质量的检查维度，为维护和迭代提供完整的理论与设计依据。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4064000"/>
            <a:ext cx="2603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477000" y="4064000"/>
            <a:ext cx="2603500" cy="508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67500" y="42926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112000" y="42545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USAGE.md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19644">
            <a:off x="6667518" y="48196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6667500" y="4953000"/>
            <a:ext cx="2222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提供清晰的用户指南，包括技能的安装依赖、加载配置方法以及在不同场景下的运行指令，降低使用者的上手成本。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207500" y="4064000"/>
            <a:ext cx="2603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9207500" y="4064000"/>
            <a:ext cx="2603500" cy="508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398000" y="42926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9842500" y="42545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sample-report.md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-19644">
            <a:off x="9398018" y="48196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9398000" y="4953000"/>
            <a:ext cx="2222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对 day5 作业代码实际运行评分工具后的输出报告，直观展示技能的实际效果、评分细节与改进建议，作为交付成果的验证。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自由发挥与交付物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22860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651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01. skill.md (Skill 定义文件)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2152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2860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定义 Skill 的核心身份与行为：明确功能名称和业务描述，规范 slash command 触发方式；制定核心评分逻辑与自动化检查步骤，并标准化输出报告的格式与数据结构，为系统运行提供基础依据。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rcRect l="8333" r="8333"/>
          <a:stretch>
            <a:fillRect/>
          </a:stretch>
        </p:blipFill>
        <p:spPr>
          <a:xfrm>
            <a:off x="762000" y="4191000"/>
            <a:ext cx="2540000" cy="2032000"/>
          </a:xfrm>
          <a:prstGeom prst="rect">
            <a:avLst/>
          </a:prstGeom>
          <a:noFill/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3556000" y="4191000"/>
            <a:ext cx="2413000" cy="2032000"/>
          </a:xfrm>
          <a:prstGeom prst="roundRect">
            <a:avLst>
              <a:gd name="adj" fmla="val 0"/>
            </a:avLst>
          </a:prstGeom>
          <a:solidFill>
            <a:srgbClr val="34D399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3683000" y="4381500"/>
            <a:ext cx="215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通过可视化的代码结构对比，直观呈现优化前后的逻辑差异，确保评分标准与代码质量检查的一致性，让技术方案更具说服力。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5390953">
            <a:off x="3937000" y="3930658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604000" y="1524000"/>
            <a:ext cx="4826000" cy="4699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604000" y="1524000"/>
            <a:ext cx="76200" cy="46990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858000" y="1651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02. DESIGN.md (核心设计文档)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0110">
            <a:off x="6858009" y="21526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58000" y="2413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302500" y="2387600"/>
            <a:ext cx="4000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设计思路与技术动机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深度阐述功能设计的底层逻辑，明确解决的核心问题与业务目标，为技术选型和实现方案提供清晰的理论支撑。</a:t>
            </a:r>
          </a:p>
        </p:txBody>
      </p:sp>
      <p:cxnSp>
        <p:nvCxnSpPr>
          <p:cNvPr id="19" name="Connector 19"/>
          <p:cNvCxnSpPr/>
          <p:nvPr/>
        </p:nvCxnSpPr>
        <p:spPr>
          <a:xfrm rot="-10110">
            <a:off x="6858009" y="34226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58000" y="3619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302500" y="3594100"/>
            <a:ext cx="4000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代码分析与检查策略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详述如何自动化扫描数据模型、解析 CRUD 端点，以及如何通过静态分析捕获关键代码特征，确保评分维度的全面性。</a:t>
            </a:r>
          </a:p>
        </p:txBody>
      </p:sp>
      <p:cxnSp>
        <p:nvCxnSpPr>
          <p:cNvPr id="22" name="Connector 22"/>
          <p:cNvCxnSpPr/>
          <p:nvPr/>
        </p:nvCxnSpPr>
        <p:spPr>
          <a:xfrm rot="-10110">
            <a:off x="6858009" y="46291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3" name="Picture 2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58000" y="48260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302500" y="4800600"/>
            <a:ext cx="4000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选型决策与未来演进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说明高级特性的选型理由，分析当前方案的局限性，并提出针对性的优化方向与扩展计划，体现方案的可持续性。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自由发挥与交付物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588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0800" cy="22225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968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9558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USAGE.md —— 清晰的使用说明文档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8594">
            <a:off x="1016008" y="2533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667000"/>
            <a:ext cx="508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明确安装的前置依赖与环境配置，提供将 Skill 加载至 Claude Code 的完整步骤，并附带具体的运行命令示例与报告输出解读，确保使用者能无障碍上手操作。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254500"/>
            <a:ext cx="5588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62000" y="4254500"/>
            <a:ext cx="50800" cy="22225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4450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44323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sample-report.md —— 真实的元作业验证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8594">
            <a:off x="1016008" y="50101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1016000" y="5143500"/>
            <a:ext cx="508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将评分工具实际运行在自己的 Day5 作业上，完整保存运行结果。鼓励诚实记录工具发现的问题，这不仅是验证，更是审视自身代码、实现“元作业”价值的关键过程。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5390708">
            <a:off x="4381500" y="4121159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rcRect t="2748" b="2748"/>
          <a:stretch>
            <a:fillRect/>
          </a:stretch>
        </p:blipFill>
        <p:spPr>
          <a:xfrm>
            <a:off x="6985000" y="1905000"/>
            <a:ext cx="4572000" cy="3175000"/>
          </a:xfrm>
          <a:prstGeom prst="rect">
            <a:avLst/>
          </a:prstGeom>
          <a:noFill/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6985000" y="5334000"/>
            <a:ext cx="4572000" cy="1206500"/>
          </a:xfrm>
          <a:prstGeom prst="roundRect">
            <a:avLst>
              <a:gd name="adj" fmla="val 0"/>
            </a:avLst>
          </a:prstGeom>
          <a:solidFill>
            <a:srgbClr val="34D399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7112000" y="5461000"/>
            <a:ext cx="431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终端界面示例展示了命令参数与文档结构。清晰的文档规范和真实的运行报告，是交付物专业性与完整性的重要体现。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评分与提示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4D399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9050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附加作业评分标准（20分）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921000"/>
            <a:ext cx="5207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2921000"/>
            <a:ext cx="76200" cy="9525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30226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Skill 可正常加载运行 (5分)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确保 Skill 能够被系统正确识别、加载并执行核心功能，无启动或运行时错误。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4064000"/>
            <a:ext cx="5207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762000" y="4064000"/>
            <a:ext cx="76200" cy="9525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16000" y="41656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评分维度覆盖完整 (5分)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涵盖功能完整性、代码规范、安全性及性能等关键维度，无重要考察点的遗漏。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5207000"/>
            <a:ext cx="5207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762000" y="5207000"/>
            <a:ext cx="76200" cy="9525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016000" y="53086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报告与文档质量 (10分)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评价报告结构清晰、论据充分；设计文档与使用说明完整详尽，便于他人理解与复现。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5389582">
            <a:off x="4254500" y="4121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604000" y="190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关键提示与建议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604000" y="27940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94500" y="29845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239000" y="29464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善用 AI 辅助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794500" y="3556000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借助 AI 生成 Skill 初版代码，再针对具体场景迭代优化，提升开发效率。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207500" y="27940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98000" y="2984500"/>
            <a:ext cx="355600" cy="355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9842500" y="29464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分步验证流程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398000" y="3556000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先完成静态检查版本跑通基础流程，再逐步引入深度逻辑验证，降低调试难度。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604000" y="46990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94500" y="4889500"/>
            <a:ext cx="355600" cy="3556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239000" y="48514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真实记录问题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794500" y="5397500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在报告中如实记录 Skill 检测出的真实缺陷，不隐瞒、不美化，客观呈现结果。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207500" y="46990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98000" y="4889500"/>
            <a:ext cx="355600" cy="3556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9842500" y="48514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拥抱改进机会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9398000" y="5397500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评分工具发现的问题，正是提升代码质量与工程能力的宝贵契机，而非单纯的扣分点。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核心数据汇总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032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87500" y="2032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附加作业总分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946">
            <a:off x="1016014" y="2660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8575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20</a:t>
            </a: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分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81500" y="1778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5500" y="2032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207000" y="2032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Day5 作业总分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4946">
            <a:off x="4635514" y="2660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635500" y="28575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100</a:t>
            </a: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分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01000" y="1778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55000" y="2032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826500" y="2032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整体评分占比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946">
            <a:off x="8255014" y="2660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255000" y="28575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40</a:t>
            </a: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分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191000"/>
            <a:ext cx="5334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6000" y="4445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587500" y="4445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应用评分占比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9046">
            <a:off x="1016008" y="5073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1016000" y="5270500"/>
            <a:ext cx="482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24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60 分</a:t>
            </a: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（计算方式：20分/版本 × 3个应用版本，构成核心考核权重）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77000" y="4191000"/>
            <a:ext cx="4953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731000" y="44450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302500" y="44450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交付物数量及清单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9822">
            <a:off x="6731009" y="50736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6731000" y="5270500"/>
            <a:ext cx="444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24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4 个关键文档</a:t>
            </a: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（skill.md / DESIGN.md / USAGE.md / sample-report.md）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参考资料与信息来源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34D399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10668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4D39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2286000"/>
            <a:ext cx="101600" cy="27940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00" y="26035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032000" y="2603500"/>
            <a:ext cx="863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附加作业：构建 Day5 评分 Skill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4407">
            <a:off x="1143004" y="3676650"/>
            <a:ext cx="990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143000" y="4064000"/>
            <a:ext cx="990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 dirty="0" err="1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作业说明文档</a:t>
            </a: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------- </a:t>
            </a:r>
            <a:r>
              <a:rPr lang="en-US" sz="1600" dirty="0" err="1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assignmentCN</a:t>
            </a: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-</a:t>
            </a:r>
            <a:r>
              <a:rPr lang="zh-CN" altLang="en-US" sz="1600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附加作业</a:t>
            </a:r>
            <a:r>
              <a:rPr lang="en-US" altLang="zh-CN" sz="1600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.md</a:t>
            </a:r>
            <a:r>
              <a:rPr lang="en-US" sz="1400" b="0" i="0" u="none" strike="noStrike" dirty="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5715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34D39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58547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5816600"/>
            <a:ext cx="965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注：请确保在访问链接前完成前置课程学习，文档中的进阶案例需结合实际开发环境运行。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794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4191000"/>
            <a:ext cx="1016000" cy="508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4699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 · 欢迎提问与交流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1314</Words>
  <Application>Microsoft Office PowerPoint</Application>
  <PresentationFormat>宽屏</PresentationFormat>
  <Paragraphs>189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Nights Glow</cp:lastModifiedBy>
  <cp:revision>1</cp:revision>
  <dcterms:modified xsi:type="dcterms:W3CDTF">2026-07-01T09:22:50Z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{"Label":"1","ContentProducer":"001191110102MACQD9K64010000","ProduceID":"7657487282966350778","ReservedCode1":"","ContentPropagator":"","PropagateID":"","ReservedCode2":""}</vt:lpwstr>
  </property>
</Properties>
</file>